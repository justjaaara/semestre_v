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0388600" cy="5854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ing" id="{4959DCEF-D8D5-43F7-B3F1-17B24BBC9704}">
          <p14:sldIdLst>
            <p14:sldId id="256"/>
          </p14:sldIdLst>
        </p14:section>
        <p14:section name="Starting" id="{3AF77A06-6923-4758-A29B-66F13EAD4C80}">
          <p14:sldIdLst>
            <p14:sldId id="257"/>
          </p14:sldIdLst>
        </p14:section>
        <p14:section name="Introducción a Scala" id="{1D1C5D5F-718B-484C-A435-8179F1CB6379}">
          <p14:sldIdLst>
            <p14:sldId id="258"/>
            <p14:sldId id="259"/>
            <p14:sldId id="260"/>
            <p14:sldId id="261"/>
            <p14:sldId id="262"/>
          </p14:sldIdLst>
        </p14:section>
        <p14:section name="Comparación con otros lenguajes de programación" id="{4B03D349-C57A-4A6B-87D4-735649E507E5}">
          <p14:sldIdLst>
            <p14:sldId id="263"/>
            <p14:sldId id="264"/>
            <p14:sldId id="265"/>
            <p14:sldId id="266"/>
            <p14:sldId id="267"/>
          </p14:sldIdLst>
        </p14:section>
        <p14:section name="Configuración del entorno de desarrollo" id="{6BB14EFE-BEF2-4DA2-973C-88A16DFD790A}">
          <p14:sldIdLst>
            <p14:sldId id="268"/>
            <p14:sldId id="269"/>
            <p14:sldId id="270"/>
            <p14:sldId id="271"/>
            <p14:sldId id="272"/>
          </p14:sldIdLst>
        </p14:section>
        <p14:section name="Ejemplos prácticos de programación en Scala" id="{5801BCD7-21A0-4159-9CA0-5E1002B3F069}">
          <p14:sldIdLst>
            <p14:sldId id="273"/>
            <p14:sldId id="274"/>
            <p14:sldId id="275"/>
            <p14:sldId id="276"/>
            <p14:sldId id="277"/>
          </p14:sldIdLst>
        </p14:section>
        <p14:section name="Guía de código industrial en Scala" id="{A6DA272F-1E78-4C87-93F0-16AD05902EEF}">
          <p14:sldIdLst>
            <p14:sldId id="278"/>
            <p14:sldId id="279"/>
            <p14:sldId id="280"/>
            <p14:sldId id="281"/>
          </p14:sldIdLst>
        </p14:section>
        <p14:section name="Ending" id="{2CB4A762-EC82-487A-99CA-9880F46CFD02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89" autoAdjust="0"/>
  </p:normalViewPr>
  <p:slideViewPr>
    <p:cSldViewPr>
      <p:cViewPr varScale="1">
        <p:scale>
          <a:sx n="122" d="100"/>
          <a:sy n="122" d="100"/>
        </p:scale>
        <p:origin x="224" y="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388600" cy="657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6000" r="6000"/>
          <a:stretch>
            <a:fillRect/>
          </a:stretch>
        </p:blipFill>
        <p:spPr>
          <a:xfrm>
            <a:off x="0" y="0"/>
            <a:ext cx="10388600" cy="65786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371600" y="5499100"/>
            <a:ext cx="7645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10388600" cy="657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3632200" y="762000"/>
            <a:ext cx="3111500" cy="127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1371600" y="1879600"/>
            <a:ext cx="7645400" cy="298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600" b="1" dirty="0">
                <a:solidFill>
                  <a:srgbClr val="0EAFB7"/>
                </a:solidFill>
                <a:latin typeface="苹方-简"/>
              </a:rPr>
              <a:t>Scala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1536700" y="4488793"/>
            <a:ext cx="7645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dirty="0">
                <a:solidFill>
                  <a:srgbClr val="FFFFFF"/>
                </a:solidFill>
                <a:latin typeface="苹方-简"/>
              </a:rPr>
              <a:t>By El </a:t>
            </a:r>
            <a:r>
              <a:rPr lang="en-US" dirty="0" err="1">
                <a:solidFill>
                  <a:srgbClr val="FFFFFF"/>
                </a:solidFill>
                <a:latin typeface="苹方-简"/>
              </a:rPr>
              <a:t>JuanGui</a:t>
            </a:r>
            <a:endParaRPr lang="en-US" sz="1100" dirty="0"/>
          </a:p>
        </p:txBody>
      </p:sp>
      <p:pic>
        <p:nvPicPr>
          <p:cNvPr id="10" name="Picture 2" descr="Scala Logo PNG vector in SVG, PDF, AI, CDR format">
            <a:extLst>
              <a:ext uri="{FF2B5EF4-FFF2-40B4-BE49-F238E27FC236}">
                <a16:creationId xmlns:a16="http://schemas.microsoft.com/office/drawing/2014/main" id="{9CEA4D6E-255E-A202-6C38-6CE5C2FB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157" y="2639411"/>
            <a:ext cx="2396485" cy="179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762000" y="3136900"/>
            <a:ext cx="5181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762000" y="3479800"/>
            <a:ext cx="5181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3835400"/>
            <a:ext cx="5181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762000" y="4178300"/>
            <a:ext cx="5181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762000" y="4521200"/>
            <a:ext cx="5181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762000" y="1016000"/>
            <a:ext cx="4927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0EAFB7"/>
                </a:solidFill>
                <a:latin typeface="苹方-简"/>
              </a:rPr>
              <a:t>Contenido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62000" y="3136900"/>
            <a:ext cx="51816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600" b="0" dirty="0">
                <a:solidFill>
                  <a:srgbClr val="FFFFFF"/>
                </a:solidFill>
                <a:latin typeface="苹方-简"/>
              </a:rPr>
              <a:t>1. </a:t>
            </a:r>
            <a:r>
              <a:rPr lang="en-US" sz="1600" b="0" dirty="0" err="1">
                <a:solidFill>
                  <a:srgbClr val="FFFFFF"/>
                </a:solidFill>
                <a:latin typeface="苹方-简"/>
              </a:rPr>
              <a:t>Introducción</a:t>
            </a:r>
            <a:r>
              <a:rPr lang="en-US" sz="1600" b="0" dirty="0">
                <a:solidFill>
                  <a:srgbClr val="FFFFFF"/>
                </a:solidFill>
                <a:latin typeface="苹方-简"/>
              </a:rPr>
              <a:t> a Scala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762000" y="3479800"/>
            <a:ext cx="51816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600" b="0">
                <a:solidFill>
                  <a:srgbClr val="FFFFFF"/>
                </a:solidFill>
                <a:latin typeface="苹方-简"/>
              </a:rPr>
              <a:t>2. Comparación con otros lenguajes de programación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3835400"/>
            <a:ext cx="51816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600" b="0">
                <a:solidFill>
                  <a:srgbClr val="FFFFFF"/>
                </a:solidFill>
                <a:latin typeface="苹方-简"/>
              </a:rPr>
              <a:t>3. Configuración del entorno de desarrollo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762000" y="4178300"/>
            <a:ext cx="51816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600" b="0">
                <a:solidFill>
                  <a:srgbClr val="FFFFFF"/>
                </a:solidFill>
                <a:latin typeface="苹方-简"/>
              </a:rPr>
              <a:t>4. Ejemplos prácticos de programación en Scala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62000" y="4521200"/>
            <a:ext cx="51816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600" b="0">
                <a:solidFill>
                  <a:srgbClr val="FFFFFF"/>
                </a:solidFill>
                <a:latin typeface="苹方-简"/>
              </a:rPr>
              <a:t>5. Guía de código industrial en Scala</a:t>
            </a:r>
            <a:endParaRPr lang="en-US" sz="1100"/>
          </a:p>
        </p:txBody>
      </p:sp>
      <p:pic>
        <p:nvPicPr>
          <p:cNvPr id="18" name="Picture 2" descr="Scala Logo PNG vector in SVG, PDF, AI, CDR format">
            <a:extLst>
              <a:ext uri="{FF2B5EF4-FFF2-40B4-BE49-F238E27FC236}">
                <a16:creationId xmlns:a16="http://schemas.microsoft.com/office/drawing/2014/main" id="{BF8A9618-F546-E731-5401-7DB1D0BFD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653" y="1188983"/>
            <a:ext cx="3900488" cy="292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632200" y="4572000"/>
            <a:ext cx="3111500" cy="127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762000" y="21463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Introducción a Scala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Sección 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000" r="5000"/>
          <a:stretch>
            <a:fillRect/>
          </a:stretch>
        </p:blipFill>
        <p:spPr>
          <a:xfrm>
            <a:off x="0" y="0"/>
            <a:ext cx="10388600" cy="6464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646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t="13000" b="13000"/>
          <a:stretch>
            <a:fillRect/>
          </a:stretch>
        </p:blipFill>
        <p:spPr>
          <a:xfrm>
            <a:off x="762000" y="1409700"/>
            <a:ext cx="2717800" cy="1524000"/>
          </a:xfrm>
          <a:prstGeom prst="roundRect">
            <a:avLst>
              <a:gd name="adj" fmla="val 833"/>
            </a:avLst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5000" r="5000"/>
          <a:stretch>
            <a:fillRect/>
          </a:stretch>
        </p:blipFill>
        <p:spPr>
          <a:xfrm>
            <a:off x="3835400" y="1409700"/>
            <a:ext cx="2717800" cy="1524000"/>
          </a:xfrm>
          <a:prstGeom prst="roundRect">
            <a:avLst>
              <a:gd name="adj" fmla="val 833"/>
            </a:avLst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l="2000" r="2000"/>
          <a:stretch>
            <a:fillRect/>
          </a:stretch>
        </p:blipFill>
        <p:spPr>
          <a:xfrm>
            <a:off x="6908800" y="1409700"/>
            <a:ext cx="2717800" cy="1524000"/>
          </a:xfrm>
          <a:prstGeom prst="roundRect">
            <a:avLst>
              <a:gd name="adj" fmla="val 833"/>
            </a:avLst>
          </a:prstGeom>
        </p:spPr>
      </p:pic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¿Qué es Scala?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Definición de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Propósito y uso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Comparación con otros lenguajes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346710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“Scala es un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lenguaje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propósito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general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combina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características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orientada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objetos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diseñado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para ser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conciso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expresivo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” By Wikipedia.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3835400" y="3467100"/>
            <a:ext cx="27178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Su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propósito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principal es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facilitar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desarrollo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escalables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robustas,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siendo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ampliamente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utilizado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desarrollo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software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industria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especialmente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sistemas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latin typeface="苹方-简"/>
              </a:rPr>
              <a:t>distribuidos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latin typeface="苹方-简"/>
              </a:rPr>
              <a:t>procesamiento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latin typeface="苹方-简"/>
              </a:rPr>
              <a:t>.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08800" y="374650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diferencia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Java, Scala, 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tiene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sintaxis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limpia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ofreciendo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mayor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productividad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mientras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se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mantiene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interoperable con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ecosistema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Java,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ayuda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su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adopción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proyectos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existentes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7000" r="7000"/>
          <a:stretch>
            <a:fillRect/>
          </a:stretch>
        </p:blipFill>
        <p:spPr>
          <a:xfrm>
            <a:off x="0" y="0"/>
            <a:ext cx="10388600" cy="8115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11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4572000" y="1485900"/>
            <a:ext cx="5156200" cy="17399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4572000" y="3441700"/>
            <a:ext cx="5156200" cy="17399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4572000" y="5384800"/>
            <a:ext cx="5156200" cy="1955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4572000" y="1663700"/>
            <a:ext cx="50800" cy="13970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AutoShape 10"/>
          <p:cNvSpPr/>
          <p:nvPr/>
        </p:nvSpPr>
        <p:spPr>
          <a:xfrm>
            <a:off x="4572000" y="3606800"/>
            <a:ext cx="50800" cy="1397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AutoShape 11"/>
          <p:cNvSpPr/>
          <p:nvPr/>
        </p:nvSpPr>
        <p:spPr>
          <a:xfrm>
            <a:off x="4572000" y="5588000"/>
            <a:ext cx="50800" cy="15621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>
            <a:off x="53340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4572000" y="609600"/>
            <a:ext cx="5156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Historia y evolución de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724400" y="163830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Orígenes de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724400" y="359410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Evolución y versiones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724400" y="553720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Adopción en la industria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724400" y="201930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“Scala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creado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Martin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Odersky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2003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École Polytechnique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Fédérale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Lausana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(EPFL)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respuesta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las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limitaciones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Java,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buscando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combinar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orientada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objetos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con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.”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4724400" y="396240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“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su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lanzamiento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inicial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Scala ha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evolucionado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través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varias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versiones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con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mejoras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significativas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sintaxis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rendimiento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características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introducción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implicits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interoperabilidad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con Java,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consolidándose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un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lenguaje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moderno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versátil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.”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4724400" y="591820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“A lo largo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años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Scala ha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ganado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popularidad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comunidad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desarrolladores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siendo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adoptado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empresas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Twitter, LinkedIn y Netflix, que lo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utilizan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construir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sistemas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escalables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eficientes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especialmente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ámbito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del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procesamiento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web.”</a:t>
            </a:r>
            <a:endParaRPr lang="en-US" sz="1100" dirty="0"/>
          </a:p>
        </p:txBody>
      </p:sp>
      <p:pic>
        <p:nvPicPr>
          <p:cNvPr id="1026" name="Picture 2" descr="Scala Logo PNG vector in SVG, PDF, AI, CDR format">
            <a:extLst>
              <a:ext uri="{FF2B5EF4-FFF2-40B4-BE49-F238E27FC236}">
                <a16:creationId xmlns:a16="http://schemas.microsoft.com/office/drawing/2014/main" id="{084149E2-45C3-091F-F05B-D5DDD283E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552700"/>
            <a:ext cx="3900488" cy="292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2000" r="12000"/>
          <a:stretch>
            <a:fillRect/>
          </a:stretch>
        </p:blipFill>
        <p:spPr>
          <a:xfrm>
            <a:off x="0" y="0"/>
            <a:ext cx="10388600" cy="76962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696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098550"/>
            <a:ext cx="2705100" cy="52324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098550"/>
            <a:ext cx="2705100" cy="52324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098550"/>
            <a:ext cx="2705100" cy="52324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13017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4572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Propósito y aplicaciones de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165350"/>
            <a:ext cx="20955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Desarrollo de aplicaciones escalables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165350"/>
            <a:ext cx="20955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Programación funcional y orientada a objetos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1653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Uso en big data y análisis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3130550"/>
            <a:ext cx="20955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Scala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está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diseñado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facilitar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creación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苹方-简"/>
              </a:rPr>
              <a:t>su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苹方-简"/>
              </a:rPr>
              <a:t>fuerte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sistemas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distribuidos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nube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SAS.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4140200" y="3409950"/>
            <a:ext cx="2095500" cy="213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Combina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paradigmas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hemos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visto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clase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: 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orientada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objetos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ayando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al Desarrollo a resolver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problemas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específicos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mejora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flexibilidad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expresividad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del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código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7213600" y="2863850"/>
            <a:ext cx="20955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Scala es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ampliamente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utilizado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: </a:t>
            </a:r>
          </a:p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- 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Ecosistema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big data,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especialmente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herramientas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Apache Spark,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permite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desarrolladores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procesar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grandes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volúmenes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manera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eficiente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efectiva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10388600" cy="68961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689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409700"/>
            <a:ext cx="2717800" cy="47117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409700"/>
            <a:ext cx="2717800" cy="47117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409700"/>
            <a:ext cx="2717800" cy="47117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51625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51625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51625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Características principales de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19367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Interoperabilidad con Java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19367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Sintaxis concisa y expresiva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19367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Soporte para programación funcional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259715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se ejecuta en la JVM (Java Virtual Machine), lo que permite a los desarrolladores utilizar bibliotecas de Java y facilitar la integración en proyectos existentes, maximizando la reutilización de código.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835400" y="2597150"/>
            <a:ext cx="27178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La sintaxis de Scala está diseñada para ser más limpia y menos verbosa que la de Java, lo que permite a los programadores escribir menos código y, al mismo tiempo, mantener la claridad y la legibilidad, favoreciendo la productividad.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08800" y="2597150"/>
            <a:ext cx="2717800" cy="238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incorpora características avanzadas de programación funcional, como funciones de orden superior, inmutabilidad y expresiones lambda, lo que permite a los desarrolladores adoptar un enfoque más funcional en la resolución de problemas y la manipulación de datos.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12573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632200" y="4572000"/>
            <a:ext cx="3111500" cy="127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762000" y="21463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Comparación con otros lenguajes de programación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2000" y="12573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Sección 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0" y="0"/>
            <a:ext cx="10388600" cy="77851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84150"/>
            <a:ext cx="10388600" cy="778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869950"/>
            <a:ext cx="2705100" cy="498475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869950"/>
            <a:ext cx="2705100" cy="492125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869950"/>
            <a:ext cx="2705100" cy="498475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96520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96520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96520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06680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 dirty="0">
                <a:solidFill>
                  <a:srgbClr val="4CC2C8"/>
                </a:solidFill>
                <a:latin typeface="苹方-简"/>
              </a:rPr>
              <a:t>01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4140200" y="106680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06680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4572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Scala vs Java: Ventajas y desventajas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3241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 dirty="0" err="1">
                <a:solidFill>
                  <a:srgbClr val="FFFFFF"/>
                </a:solidFill>
                <a:latin typeface="苹方-简"/>
              </a:rPr>
              <a:t>Ventajas</a:t>
            </a:r>
            <a:r>
              <a:rPr lang="en-US" sz="1800" b="1" dirty="0">
                <a:solidFill>
                  <a:srgbClr val="FFFFFF"/>
                </a:solidFill>
                <a:latin typeface="苹方-简"/>
              </a:rPr>
              <a:t> de Scala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4140200" y="232410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Desventajas de Scala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32410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Interoperabilidad y rendimiento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2743200"/>
            <a:ext cx="20955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Scala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ofrece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sintaxis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concisa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expresiva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Java,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permite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escribir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menos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código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incorporar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características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facilitan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manipulación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creación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orden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superior.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4140200" y="3022600"/>
            <a:ext cx="20955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Curva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aprendizajke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alta</a:t>
            </a:r>
            <a:endParaRPr lang="en-US" sz="1400" b="0" dirty="0">
              <a:solidFill>
                <a:srgbClr val="FFFFFF"/>
              </a:solidFill>
              <a:latin typeface="苹方-简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213600" y="3022600"/>
            <a:ext cx="20955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Aunque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Scala se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ejecuta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JVM y es interoperable con Java, </a:t>
            </a:r>
            <a:r>
              <a:rPr lang="en-US" sz="1400" dirty="0" err="1">
                <a:solidFill>
                  <a:srgbClr val="FFFFFF"/>
                </a:solidFill>
                <a:latin typeface="苹方-简"/>
              </a:rPr>
              <a:t>algunas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苹方-简"/>
              </a:rPr>
              <a:t>veces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rendimiento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(Performance)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puede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verse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afectado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sobrecarga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características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puede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ser un factor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considerar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donde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苹方-简"/>
              </a:rPr>
              <a:t>performance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es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crítico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10388600" cy="8750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75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0" r="10000"/>
          <a:stretch>
            <a:fillRect/>
          </a:stretch>
        </p:blipFill>
        <p:spPr>
          <a:xfrm>
            <a:off x="393700" y="184150"/>
            <a:ext cx="3962400" cy="76835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572000" y="1339850"/>
            <a:ext cx="5156200" cy="17399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4572000" y="3282950"/>
            <a:ext cx="5156200" cy="19558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4572000" y="5715000"/>
            <a:ext cx="5156200" cy="1955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4572000" y="1504950"/>
            <a:ext cx="50800" cy="13970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AutoShape 10"/>
          <p:cNvSpPr/>
          <p:nvPr/>
        </p:nvSpPr>
        <p:spPr>
          <a:xfrm>
            <a:off x="4572000" y="3486150"/>
            <a:ext cx="50800" cy="15621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AutoShape 11"/>
          <p:cNvSpPr/>
          <p:nvPr/>
        </p:nvSpPr>
        <p:spPr>
          <a:xfrm>
            <a:off x="4572000" y="5556250"/>
            <a:ext cx="50800" cy="15621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>
            <a:off x="53340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4572000" y="31750"/>
            <a:ext cx="51562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Scala vs Python: Diferencias clave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724400" y="14922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Paradigmas de programación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724400" y="33083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 dirty="0" err="1">
                <a:solidFill>
                  <a:srgbClr val="FFFFFF"/>
                </a:solidFill>
                <a:latin typeface="苹方-简"/>
              </a:rPr>
              <a:t>Sintaxis</a:t>
            </a:r>
            <a:r>
              <a:rPr lang="en-US" sz="1800" b="1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800" b="1" dirty="0" err="1">
                <a:solidFill>
                  <a:srgbClr val="FFFFFF"/>
                </a:solidFill>
                <a:latin typeface="苹方-简"/>
              </a:rPr>
              <a:t>legibilidad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4724400" y="52895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Rendimiento y escalabilidad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724400" y="18605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Scala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combina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orientada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objetos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funcional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mientras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Python se centra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orientada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objetos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programación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imperativa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influye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forma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se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estructuran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resuelven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problemas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lenguaje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4724400" y="368935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sintaxis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Python es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conocida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su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simplicidad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legibilidad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facilita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aprendizaje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principiantes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mientras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Scala,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aunque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concisa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puede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ser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compleja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debido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sus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características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avanzadas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lo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puede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presentar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curva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aprendizaje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más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pronunciada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 Por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qué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les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gusta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python?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4724400" y="588645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Scala, al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ejecutarse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JVM,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ofrece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un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rendimiento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superior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gran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escala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procesamiento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mientras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Python,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aunque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versátil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fácil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usar,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podría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llegar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ser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menos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eficiente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términos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performance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que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requieren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alta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concurrencia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altos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niveles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procesamiento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9000" r="9000"/>
          <a:stretch>
            <a:fillRect/>
          </a:stretch>
        </p:blipFill>
        <p:spPr>
          <a:xfrm>
            <a:off x="0" y="0"/>
            <a:ext cx="10388600" cy="7099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09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06045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06045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06045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6165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6165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6165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2000" y="18415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Scala vs Kotlin: Similitudes y diferencias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27368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Paradigmas de programación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27368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Interoperabilidad con Java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27368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Características de sintaxis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3397250"/>
            <a:ext cx="27178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Tanto Scala como Kotlin son lenguajes que combinan características de programación orientada a objetos y programación funcional, permitiendo a los desarrolladores elegir el enfoque más adecuado para sus necesidades, lo que mejora la flexibilidad en el desarrollo de aplicaciones.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835400" y="3397250"/>
            <a:ext cx="2717800" cy="238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Ambos lenguajes se ejecutan en la JVM, lo que les permite utilizar bibliotecas de Java y facilitar la integración en proyectos existentes, aunque Kotlin se ha diseñado específicamente para ser más fácil de adoptar por los desarrolladores de Java, gracias a su sintaxis más sencilla.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08800" y="3397250"/>
            <a:ext cx="27178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ofrece una sintaxis más rica y expresiva, lo que puede resultar en un código más conciso, mientras que Kotlin prioriza la simplicidad y la legibilidad, lo que lo hace más accesible para principiantes y desarrolladores que buscan una curva de aprendizaje más suave.</a:t>
            </a:r>
            <a:endParaRPr lang="en-US" sz="1100"/>
          </a:p>
        </p:txBody>
      </p:sp>
      <p:pic>
        <p:nvPicPr>
          <p:cNvPr id="3074" name="Picture 2" descr="Kotlin Logo PNG vector in SVG, PDF, AI, CDR format">
            <a:extLst>
              <a:ext uri="{FF2B5EF4-FFF2-40B4-BE49-F238E27FC236}">
                <a16:creationId xmlns:a16="http://schemas.microsoft.com/office/drawing/2014/main" id="{CE30BC9A-F624-330F-9972-887DF7366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73150"/>
            <a:ext cx="2081388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Java Logo PNG Vector">
            <a:extLst>
              <a:ext uri="{FF2B5EF4-FFF2-40B4-BE49-F238E27FC236}">
                <a16:creationId xmlns:a16="http://schemas.microsoft.com/office/drawing/2014/main" id="{1DF7550D-D61C-43D2-7D91-331042A8A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041400"/>
            <a:ext cx="92011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cala Ilustraciones Stock, Vectores, Y Clipart – (201 Ilustraciones Stock)">
            <a:extLst>
              <a:ext uri="{FF2B5EF4-FFF2-40B4-BE49-F238E27FC236}">
                <a16:creationId xmlns:a16="http://schemas.microsoft.com/office/drawing/2014/main" id="{6BE5898A-850B-8090-8C69-51764A25A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8" t="23536" r="11611" b="26573"/>
          <a:stretch/>
        </p:blipFill>
        <p:spPr bwMode="auto">
          <a:xfrm>
            <a:off x="6908800" y="1100220"/>
            <a:ext cx="2971800" cy="118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4000" r="14000"/>
          <a:stretch>
            <a:fillRect/>
          </a:stretch>
        </p:blipFill>
        <p:spPr>
          <a:xfrm>
            <a:off x="0" y="0"/>
            <a:ext cx="10388600" cy="8001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00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717550"/>
            <a:ext cx="2705100" cy="5537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717550"/>
            <a:ext cx="2705100" cy="5537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717550"/>
            <a:ext cx="2705100" cy="5537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920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9207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920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022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022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022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10795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Casos de uso en comparación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279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Uso en sistemas distribuidos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279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Desarrollo de aplicaciones web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279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Programación de microservicios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29781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es ampliamente utilizado en el desarrollo de sistemas distribuidos, especialmente en combinación con Apache Spark, donde su capacidad para manejar grandes volúmenes de datos y su interoperabilidad con Java lo hacen ideal para aplicaciones de big data.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140200" y="29781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A diferencia de otros lenguajes como Python, Scala permite la creación de aplicaciones web robustas y escalables utilizando frameworks como Play, que aprovechan su naturaleza funcional y su capacidad para manejar la concurrencia de manera eficiente.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213600" y="2978150"/>
            <a:ext cx="2095500" cy="298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se adapta bien a arquitecturas de microservicios, ofreciendo características que facilitan la creación de servicios independientes y escalables, lo que lo convierte en una opción popular para empresas que buscan modernizar sus aplicaciones y mejorar la agilidad en el desarrollo.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632200" y="4572000"/>
            <a:ext cx="3111500" cy="127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762000" y="21463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Configuración del entorno de desarrollo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Sección 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000" r="5000"/>
          <a:stretch>
            <a:fillRect/>
          </a:stretch>
        </p:blipFill>
        <p:spPr>
          <a:xfrm>
            <a:off x="0" y="0"/>
            <a:ext cx="10388600" cy="6464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646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Instalación de IntelliJ IDEA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Descarga de IntelliJ IDEA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Proceso de instalación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Configuración inicial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374650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 JetBrains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descargar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versión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Community o Ultimate de IntelliJ IDEA,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asegurándote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seleccionar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versión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compatible con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tu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sistema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operativo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(Windows, macOS o Linux).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3835400" y="346710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Sigue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instrucciones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del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asistente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instalación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eligiendo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opciones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adecuadas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creación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accesos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directos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configuración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la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integración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con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sistema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facilitar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acceso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uso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del IDE.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6908800" y="3467100"/>
            <a:ext cx="27178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Al abrir IntelliJ IDEA por primera vez, selecciona la opción para configurar un nuevo proyecto, elige Scala como lenguaje de programación y asegúrate de instalar el plugin de Scala para habilitar todas las características necesarias para el desarrollo en este lenguaje.</a:t>
            </a:r>
            <a:endParaRPr lang="en-US" sz="1100"/>
          </a:p>
        </p:txBody>
      </p:sp>
      <p:pic>
        <p:nvPicPr>
          <p:cNvPr id="4104" name="Picture 8" descr="Example Product Plugin Settings Dialog">
            <a:extLst>
              <a:ext uri="{FF2B5EF4-FFF2-40B4-BE49-F238E27FC236}">
                <a16:creationId xmlns:a16="http://schemas.microsoft.com/office/drawing/2014/main" id="{B1779E62-44D1-3BA9-32A1-649A40C8F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697" y="913305"/>
            <a:ext cx="3555206" cy="215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10388600" cy="83312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33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4572000" y="1492250"/>
            <a:ext cx="5156200" cy="1524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4572000" y="3219450"/>
            <a:ext cx="5156200" cy="17399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4572000" y="5600700"/>
            <a:ext cx="5156200" cy="1955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4572000" y="1644650"/>
            <a:ext cx="50800" cy="1219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AutoShape 10"/>
          <p:cNvSpPr/>
          <p:nvPr/>
        </p:nvSpPr>
        <p:spPr>
          <a:xfrm>
            <a:off x="4572000" y="3397250"/>
            <a:ext cx="50800" cy="1397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AutoShape 11"/>
          <p:cNvSpPr/>
          <p:nvPr/>
        </p:nvSpPr>
        <p:spPr>
          <a:xfrm>
            <a:off x="4572000" y="5378450"/>
            <a:ext cx="50800" cy="15621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>
            <a:off x="53340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4572000" y="184150"/>
            <a:ext cx="51562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Configuración del proyecto Scala en IntelliJ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724400" y="16446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Creación de un nuevo proyecto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724400" y="33718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Configuración de dependencias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724400" y="53276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Ejecución y pruebas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724400" y="2012950"/>
            <a:ext cx="48514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Inicia IntelliJ IDEA y selecciona 'Nuevo Proyecto'. Escoge 'Scala' como tipo de proyecto y asegúrate de que el SDK de Scala esté correctamente configurado para evitar problemas de compatibilidad.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724400" y="37528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Utiliza SBT (Scala Build Tool) para gestionar las dependencias del proyecto. Crea un archivo `build.sbt` en la raíz del proyecto y define las bibliotecas necesarias para tu aplicación, facilitando así la gestión de versiones y la construcción del proyecto.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724400" y="570865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Configura la ejecución de tu aplicación Scala creando una nueva configuración de ejecución en IntelliJ. Asegúrate de que el archivo principal esté correctamente especificado y utiliza las herramientas de prueba integradas para verificar el funcionamiento del código antes de la implementación.</a:t>
            </a:r>
            <a:endParaRPr lang="en-US" sz="110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FCC64E3-FF28-4833-1056-CA69B658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2" y="2112142"/>
            <a:ext cx="3464910" cy="3464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0" y="0"/>
            <a:ext cx="10388600" cy="77851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78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098550"/>
            <a:ext cx="2705100" cy="5334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098550"/>
            <a:ext cx="2705100" cy="53340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098550"/>
            <a:ext cx="2705100" cy="5334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13017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4572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Herramientas y plugins útiles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6606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Plugin de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660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SBT (Scala Build Tool)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6606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ScalaTest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3079750"/>
            <a:ext cx="20955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Este plugin es esencial para el desarrollo en Scala en IntelliJ IDEA, proporcionando soporte completo para la sintaxis de Scala, autocompletado, y herramientas de refactorización, lo que mejora la productividad y la calidad del código.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140200" y="3359150"/>
            <a:ext cx="20955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SBT es una herramienta de construcción que permite gestionar dependencias, compilar proyectos y ejecutar pruebas de manera eficiente. Su integración con IntelliJ facilita la configuración y el manejo de proyectos Scala, optimizando el flujo de trabajo del desarrollador.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213600" y="3079750"/>
            <a:ext cx="2095500" cy="298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Este framework de pruebas es ampliamente utilizado en el ecosistema Scala, permitiendo a los desarrolladores escribir pruebas unitarias y de integración de manera sencilla. Su integración con IntelliJ proporciona herramientas visuales para ejecutar y gestionar pruebas, asegurando la calidad del código.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1000" r="11000"/>
          <a:stretch>
            <a:fillRect/>
          </a:stretch>
        </p:blipFill>
        <p:spPr>
          <a:xfrm>
            <a:off x="0" y="0"/>
            <a:ext cx="10388600" cy="73152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31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336550"/>
            <a:ext cx="2717800" cy="51435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336550"/>
            <a:ext cx="2717800" cy="51435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 dirty="0"/>
          </a:p>
        </p:txBody>
      </p:sp>
      <p:sp>
        <p:nvSpPr>
          <p:cNvPr id="6" name="AutoShape 6"/>
          <p:cNvSpPr/>
          <p:nvPr/>
        </p:nvSpPr>
        <p:spPr>
          <a:xfrm>
            <a:off x="6908800" y="336550"/>
            <a:ext cx="2717800" cy="51435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5657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5657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565785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Primer programa en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20129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Estructura básica del programa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20129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Compilación y ejecución en IntelliJ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201295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Errores comunes y soluciones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2673350"/>
            <a:ext cx="27178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programa simple en Scala comienza con la definición de un objeto, que es el punto de entrada. Por ejemplo, `object HelloWorld { def main(args: Array[String]): Unit = { println("Hola, Mundo!") } }` muestra cómo se define un objeto y una función principal que imprime un mensaje en la consola.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835400" y="2673350"/>
            <a:ext cx="27178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Para ejecutar el programa, primero se debe compilar. En IntelliJ, esto se hace automáticamente al ejecutar el programa. Se puede iniciar la ejecución haciendo clic en el botón de 'Ejecutar' o utilizando el atajo de teclado correspondiente, lo que permite ver la salida en la consola integrada.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08800" y="2673350"/>
            <a:ext cx="2717800" cy="280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Al iniciar con Scala, es común encontrar errores de sintaxis o problemas de configuración del entorno. Asegúrate de que el SDK de Scala esté correctamente instalado y que el archivo de configuración del proyecto esté bien definido. La consola de IntelliJ proporciona mensajes de error claros que ayudan a identificar y corregir estos problemas rápidamente.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632200" y="4572000"/>
            <a:ext cx="3111500" cy="127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762000" y="21463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Ejemplos prácticos de programación en Scala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Sección 4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0" y="0"/>
            <a:ext cx="10388600" cy="7848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84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946150"/>
            <a:ext cx="2705100" cy="5384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946150"/>
            <a:ext cx="2705100" cy="53848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946150"/>
            <a:ext cx="2705100" cy="5384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11493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11493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11493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250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250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250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18415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Ejemplo 1: Programación funcional en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508250"/>
            <a:ext cx="20955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Definición de programación funcional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5082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Ejemplo práctico en Scala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508250"/>
            <a:ext cx="20955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Ventajas de la programación funcional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3473450"/>
            <a:ext cx="20955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La programación funcional es un paradigma que trata la computación como la evaluación de funciones matemáticas y evita el cambio de estado y los datos mutables, lo que permite escribir código más predecible y fácil de entender.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140200" y="32067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ejemplo de programación funcional en Scala es el uso de funciones de orden superior, como `map`, `filter` y `reduce`, que permiten transformar y procesar colecciones de datos de manera concisa y expresiva, facilitando la manipulación de listas y conjuntos.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213600" y="34734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Este enfoque promueve la inmutabilidad y la reutilización de funciones, lo que resulta en un código más limpio y menos propenso a errores, además de facilitar la paralelización y el procesamiento concurrente en aplicaciones de gran escala.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8000" r="8000"/>
          <a:stretch>
            <a:fillRect/>
          </a:stretch>
        </p:blipFill>
        <p:spPr>
          <a:xfrm>
            <a:off x="0" y="0"/>
            <a:ext cx="10388600" cy="83312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33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2832100" y="1644650"/>
            <a:ext cx="5156200" cy="17399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2832100" y="3587750"/>
            <a:ext cx="5156200" cy="17399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2832100" y="5727700"/>
            <a:ext cx="5156200" cy="17399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2832100" y="1809750"/>
            <a:ext cx="50800" cy="13970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AutoShape 10"/>
          <p:cNvSpPr/>
          <p:nvPr/>
        </p:nvSpPr>
        <p:spPr>
          <a:xfrm>
            <a:off x="2832100" y="3765550"/>
            <a:ext cx="50800" cy="1397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AutoShape 11"/>
          <p:cNvSpPr/>
          <p:nvPr/>
        </p:nvSpPr>
        <p:spPr>
          <a:xfrm>
            <a:off x="2832100" y="5994400"/>
            <a:ext cx="50800" cy="13970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>
            <a:off x="53340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2832100" y="336550"/>
            <a:ext cx="51562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Ejemplo 2: Uso de colecciones en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2984500" y="17970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Tipos de colecciones en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984500" y="37401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Operaciones comunes en colecciones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2984500" y="56959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Ejemplo práctico de uso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2984500" y="21653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ofrece una variedad de colecciones, incluyendo listas, conjuntos y mapas, cada una con características específicas que permiten a los desarrolladores elegir la más adecuada según el contexto de uso, como la inmutabilidad de las listas o la eficiencia de los conjuntos.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2984500" y="41211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Las colecciones en Scala permiten realizar operaciones como `map`, `filter` y `reduce`, que facilitan la transformación y manipulación de datos de manera funcional, promoviendo un estilo de programación más limpio y expresivo.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2968297" y="60642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FFFFFF"/>
                </a:solidFill>
                <a:latin typeface="苹方-简"/>
              </a:rPr>
              <a:t>Un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ejemplo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práctico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sería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utilizar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una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lista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números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aplicar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`filter`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obtener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solo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los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números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pares,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seguido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`map` para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elevar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al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cuadrado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esos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números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,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demostrando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cómo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las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colecciones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pueden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simplificar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tareas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complejas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en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el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procesamiento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 de </a:t>
            </a:r>
            <a:r>
              <a:rPr lang="en-US" sz="1400" b="0" dirty="0" err="1">
                <a:solidFill>
                  <a:srgbClr val="FFFFFF"/>
                </a:solidFill>
                <a:latin typeface="苹方-简"/>
              </a:rPr>
              <a:t>datos</a:t>
            </a:r>
            <a:r>
              <a:rPr lang="en-US" sz="1400" b="0" dirty="0">
                <a:solidFill>
                  <a:srgbClr val="FFFFFF"/>
                </a:solidFill>
                <a:latin typeface="苹方-简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9000" r="9000"/>
          <a:stretch>
            <a:fillRect/>
          </a:stretch>
        </p:blipFill>
        <p:spPr>
          <a:xfrm>
            <a:off x="0" y="0"/>
            <a:ext cx="10388600" cy="7099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09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40970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40970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409700"/>
            <a:ext cx="2717800" cy="49276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6515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6515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6515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Ejemplo 3: Manejo de excepciones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Concepto de excepciones en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Uso de try-catch-finally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Ejemplo práctico de manejo de excepciones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3746500"/>
            <a:ext cx="2717800" cy="238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En Scala, las excepciones son eventos que ocurren durante la ejecución de un programa y que interrumpen su flujo normal. Se utilizan para manejar errores de manera controlada, permitiendo a los desarrolladores implementar lógica de recuperación y mantener la estabilidad de la aplicación.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835400" y="3467100"/>
            <a:ext cx="2717800" cy="280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La estructura `try-catch-finally` se utiliza para capturar excepciones. El bloque `try` contiene el código que puede lanzar una excepción, mientras que el bloque `catch` maneja la excepción específica, y el bloque `finally` se ejecuta siempre, independientemente de si se lanzó una excepción o no, permitiendo liberar recursos o realizar limpieza.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08800" y="3746500"/>
            <a:ext cx="27178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ejemplo práctico en Scala podría ser la lectura de un archivo, donde se utiliza `try` para intentar abrir el archivo y `catch` para manejar excepciones como `FileNotFoundException`, permitiendo al programa continuar su ejecución o informar al usuario sobre el error de manera adecuada.</a:t>
            </a:r>
            <a:endParaRPr lang="en-US" sz="110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9DF230B-541A-829B-FFBD-A8CE18CB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409700"/>
            <a:ext cx="2863850" cy="96611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722E390-6FAA-2A46-02DA-E7EC5309C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1390154"/>
            <a:ext cx="1946822" cy="16070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9000" r="19000"/>
          <a:stretch>
            <a:fillRect/>
          </a:stretch>
        </p:blipFill>
        <p:spPr>
          <a:xfrm>
            <a:off x="0" y="0"/>
            <a:ext cx="10388600" cy="91948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919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327150"/>
            <a:ext cx="2705100" cy="6299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327150"/>
            <a:ext cx="2705100" cy="6299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327150"/>
            <a:ext cx="2705100" cy="6299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15303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15303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15303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631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631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6319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457200"/>
            <a:ext cx="88646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Ejemplo 4: Programación orientada a objetos en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6800" y="28765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Definición de clases y objetos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8765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Herencia y polimorfismo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876550"/>
            <a:ext cx="20955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Ejemplo práctico de programación orientada a objetos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35750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En Scala, las clases se definen utilizando la palabra clave `class`, y los objetos se crean con `object`, permitiendo la encapsulación de datos y comportamientos. Esto facilita la creación de instancias y la implementación de patrones de diseño orientados a objetos.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140200" y="3575050"/>
            <a:ext cx="20955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soporta la herencia simple, permitiendo que una clase herede de otra utilizando la sintaxis `extends`. Además, el polimorfismo se logra mediante la sobrecarga de métodos y la implementación de interfaces, lo que permite a los desarrolladores crear sistemas más flexibles y reutilizables.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213600" y="4133850"/>
            <a:ext cx="20955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ejemplo práctico podría ser la creación de una jerarquía de clases para representar diferentes tipos de vehículos, donde se define una clase base `Vehiculo` y clases derivadas como `Coche` y `Camión`, demostrando cómo se pueden utilizar características de la programación orientada a objetos para modelar el mundo real.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632200" y="4572000"/>
            <a:ext cx="3111500" cy="127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762000" y="21463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Guía de código industrial en Scala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2000" y="1270000"/>
            <a:ext cx="8864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Sección 5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000" r="5000"/>
          <a:stretch>
            <a:fillRect/>
          </a:stretch>
        </p:blipFill>
        <p:spPr>
          <a:xfrm>
            <a:off x="0" y="0"/>
            <a:ext cx="10388600" cy="6464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646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409700"/>
            <a:ext cx="2717800" cy="4279900"/>
          </a:xfrm>
          <a:prstGeom prst="roundRect">
            <a:avLst>
              <a:gd name="adj" fmla="val 37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5880100"/>
            <a:ext cx="2717800" cy="50800"/>
          </a:xfrm>
          <a:prstGeom prst="rect">
            <a:avLst/>
          </a:prstGeom>
          <a:solidFill>
            <a:srgbClr val="0EAFB7"/>
          </a:solidFill>
        </p:spPr>
        <p:txBody>
          <a:bodyPr/>
          <a:lstStyle/>
          <a:p>
            <a:endParaRPr lang="es-CO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3835400" y="1409700"/>
            <a:ext cx="2717800" cy="1524000"/>
          </a:xfrm>
          <a:prstGeom prst="roundRect">
            <a:avLst>
              <a:gd name="adj" fmla="val 833"/>
            </a:avLst>
          </a:prstGeom>
        </p:spPr>
      </p:pic>
      <p:sp>
        <p:nvSpPr>
          <p:cNvPr id="13" name="TextBox 13"/>
          <p:cNvSpPr txBox="1"/>
          <p:nvPr/>
        </p:nvSpPr>
        <p:spPr>
          <a:xfrm>
            <a:off x="762000" y="5334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0">
                <a:solidFill>
                  <a:srgbClr val="FFFFFF"/>
                </a:solidFill>
                <a:latin typeface="苹方-简"/>
              </a:rPr>
              <a:t>Estructura de un proyecto Scala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620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Organización del proyecto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835400" y="3086100"/>
            <a:ext cx="27178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Uso de SBT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08800" y="3086100"/>
            <a:ext cx="27178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0EAFB7"/>
                </a:solidFill>
                <a:latin typeface="苹方-简"/>
              </a:rPr>
              <a:t>Configuración de archivos clave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62000" y="3746500"/>
            <a:ext cx="27178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proyecto Scala típico se organiza en directorios como `src/main/scala` para el código fuente y `src/test/scala` para las pruebas, facilitando la separación de la lógica de negocio y las pruebas unitarias.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835400" y="3467100"/>
            <a:ext cx="27178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Scala Build Tool (SBT) es la herramienta recomendada para gestionar proyectos Scala, permitiendo la configuración de dependencias, la compilación y la ejecución de pruebas de manera eficiente, lo que optimiza el flujo de trabajo del desarrollador.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08800" y="3746500"/>
            <a:ext cx="27178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Archivos como `build.sbt` y `project/plugins.sbt` son esenciales para definir las dependencias del proyecto y los plugins necesarios, asegurando que el entorno de desarrollo esté correctamente configurado para el desarrollo en Scala.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10388600" cy="87503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875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060700" y="1492250"/>
            <a:ext cx="5156200" cy="1955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3060700" y="3651250"/>
            <a:ext cx="5156200" cy="17399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3060700" y="5607050"/>
            <a:ext cx="5156200" cy="1955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3060700" y="1682750"/>
            <a:ext cx="50800" cy="15621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AutoShape 10"/>
          <p:cNvSpPr/>
          <p:nvPr/>
        </p:nvSpPr>
        <p:spPr>
          <a:xfrm>
            <a:off x="3060700" y="3829050"/>
            <a:ext cx="50800" cy="13970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11" name="AutoShape 11"/>
          <p:cNvSpPr/>
          <p:nvPr/>
        </p:nvSpPr>
        <p:spPr>
          <a:xfrm>
            <a:off x="3060700" y="5797550"/>
            <a:ext cx="50800" cy="15621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>
            <a:off x="533400" y="0"/>
            <a:ext cx="0" cy="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3060700" y="184150"/>
            <a:ext cx="51562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苹方-简"/>
              </a:rPr>
              <a:t>Mejores prácticas de codificación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3213100" y="16446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Consistencia en el estilo de código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213100" y="38036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Uso de inmutabilidad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3213100" y="5759450"/>
            <a:ext cx="4851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Manejo adecuado de excepciones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3213100" y="201295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Mantener un estilo de codificación consistente es fundamental en Scala. Utilizar convenciones de nomenclatura, indentación y organización de código ayuda a mejorar la legibilidad y facilita la colaboración entre desarrolladores, permitiendo que el código sea más fácil de entender y mantener.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213100" y="4184650"/>
            <a:ext cx="48514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Fomentar el uso de estructuras de datos inmutables en Scala es una de las mejores prácticas. La inmutabilidad reduce los errores relacionados con el estado compartido y facilita la programación funcional, lo que resulta en un código más predecible y menos propenso a errores.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3213100" y="6127750"/>
            <a:ext cx="48514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Implementar un manejo de excepciones claro y efectivo es crucial. Utilizar bloques `try-catch` de manera adecuada y definir excepciones personalizadas cuando sea necesario ayuda a gestionar errores de forma controlada, mejorando la robustez y la estabilidad de las aplicaciones Scala.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0" y="0"/>
            <a:ext cx="10388600" cy="7848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0388600" cy="784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4" name="AutoShape 4"/>
          <p:cNvSpPr/>
          <p:nvPr/>
        </p:nvSpPr>
        <p:spPr>
          <a:xfrm>
            <a:off x="762000" y="1098550"/>
            <a:ext cx="2705100" cy="5384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3835400" y="1098550"/>
            <a:ext cx="2705100" cy="53848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6908800" y="1098550"/>
            <a:ext cx="2705100" cy="53848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7620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3835400" y="1301750"/>
            <a:ext cx="50800" cy="711200"/>
          </a:xfrm>
          <a:prstGeom prst="rect">
            <a:avLst/>
          </a:prstGeom>
          <a:solidFill>
            <a:srgbClr val="05494D"/>
          </a:solidFill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>
            <a:off x="6908800" y="1301750"/>
            <a:ext cx="50800" cy="711200"/>
          </a:xfrm>
          <a:prstGeom prst="rect">
            <a:avLst/>
          </a:prstGeom>
          <a:solidFill>
            <a:srgbClr val="4CC2C8"/>
          </a:solid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668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1402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05494D"/>
                </a:solidFill>
                <a:latin typeface="苹方-简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213600" y="1403350"/>
            <a:ext cx="20955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4200" b="1">
                <a:solidFill>
                  <a:srgbClr val="4CC2C8"/>
                </a:solidFill>
                <a:latin typeface="苹方-简"/>
              </a:rPr>
              <a:t>03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2000" y="457200"/>
            <a:ext cx="88646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苹方-简"/>
              </a:rPr>
              <a:t>Servicios</a:t>
            </a:r>
            <a:r>
              <a:rPr lang="en-US" sz="2800" b="1" dirty="0">
                <a:solidFill>
                  <a:srgbClr val="FFFFFF"/>
                </a:solidFill>
                <a:latin typeface="苹方-简"/>
              </a:rPr>
              <a:t> y </a:t>
            </a:r>
            <a:r>
              <a:rPr lang="en-US" sz="2800" b="1">
                <a:solidFill>
                  <a:srgbClr val="FFFFFF"/>
                </a:solidFill>
                <a:latin typeface="苹方-简"/>
              </a:rPr>
              <a:t>Bibliotecas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1066800" y="2660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Código de ejemplo en Scala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140200" y="2660650"/>
            <a:ext cx="20955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Uso de bibliotecas populares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213600" y="2660650"/>
            <a:ext cx="20955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苹方-简"/>
              </a:rPr>
              <a:t>Prácticas de codificación recomendadas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66800" y="3359150"/>
            <a:ext cx="20955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Un ejemplo de código industrial en Scala podría ser la implementación de un servicio REST utilizando el framework Akka HTTP, que permite manejar solicitudes y respuestas de manera eficiente, mostrando cómo se pueden construir aplicaciones escalables y reactivas.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140200" y="3359150"/>
            <a:ext cx="20955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En este ejemplo, se puede utilizar bibliotecas como Circe para la serialización y deserialización de JSON, lo que facilita la interacción con APIs y la manipulación de datos, demostrando la integración de herramientas en un entorno de desarrollo real.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213600" y="3625850"/>
            <a:ext cx="2095500" cy="255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l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latin typeface="苹方-简"/>
              </a:rPr>
              <a:t>Es importante seguir prácticas de codificación como la separación de preocupaciones, el uso de patrones de diseño y la implementación de pruebas unitarias, asegurando que el código sea mantenible y escalable, lo que es esencial en un entorno industrial.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9162E"/>
          </a:solidFill>
        </p:spPr>
        <p:txBody>
          <a:bodyPr/>
          <a:lstStyle/>
          <a:p>
            <a:endParaRPr lang="es-CO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0388600" cy="58547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016000" y="3492500"/>
            <a:ext cx="86106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10388600" cy="585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016000" y="2286000"/>
            <a:ext cx="86106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600" b="0">
                <a:solidFill>
                  <a:srgbClr val="0EAFB7"/>
                </a:solidFill>
                <a:latin typeface="苹方-简"/>
              </a:rPr>
              <a:t>Gracias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016000" y="3492500"/>
            <a:ext cx="86106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1400" dirty="0">
                <a:solidFill>
                  <a:srgbClr val="FFFFFF"/>
                </a:solidFill>
                <a:latin typeface="苹方-简"/>
              </a:rPr>
              <a:t>EL JUANGUI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2897</Words>
  <Application>Microsoft Macintosh PowerPoint</Application>
  <PresentationFormat>Personalizado</PresentationFormat>
  <Paragraphs>175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苹方-简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Guillermo Flórez Gaviria</cp:lastModifiedBy>
  <cp:revision>2</cp:revision>
  <dcterms:created xsi:type="dcterms:W3CDTF">2006-08-16T00:00:00Z</dcterms:created>
  <dcterms:modified xsi:type="dcterms:W3CDTF">2024-09-19T17:45:32Z</dcterms:modified>
</cp:coreProperties>
</file>